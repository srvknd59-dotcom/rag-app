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Introduce the project: a production-shaped RAG reference app that grounds an LLM in Northwind Gadgets' own documents. Stack shown as chips.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Agenda. Six parts: the problem, what RAG is, architecture, ingestion, query &amp; grounding, then value &amp;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problem. Plain LLMs hallucinate, can't see private data, give no sources, and are costly to retrain. RAG addresses all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RAG. Two moves: retrieve the most relevant passages from your docs, then generate an answer grounded only in them, with citations.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it works. One RagPipeline class drives both flows: offline ingest (files→index) and online ask (question→grounded answer).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 — the reference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case. Northwind Gadgets assistant answers from 3 real docs (handbook, FAQ, return policy). Example: a remote-work question answered with a citation.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Architecture. Walk the canonical diagram: offline indexing pipeline on top, online retrieval pipeline below, grounded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Ingestion detail. Load → split (180-word chunks, 30 overlap) → embed (1536-dim) → store in Elasticsearch dense_vector with cosine similarity.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Multimodal ingest. Text is word-chunked; tables kept atomic as Markdown; images captioned by a vision model (decorative ones skipped).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Query pipeline. Embed question → kNN top_k=4 → numbered context → LLM answers with last 6 turns of history → returns answer + ranked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Grounding. System prompt forces context-only answers, inline citations, 'I don't know' behavior, and low temperature (0.2).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Stack. FastAPI backend, Elasticsearch vector store, OpenAI embeddings+LLM, React+TypeScript frontend.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 surface. Small typed API — ingest, upload, documents, chat start/send, health.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value. 24/7 instant answers, every answer sourced, no retraining, governed to your own private documents.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Roadmap. Today's reference app → hardening (hybrid search, auth, persistence) → scale (HyDE, re-ranking, monitoring, multi-tenant).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Answers you can trust, from knowledge you own.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3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 ·  TECHNICAL PROJECT DEMO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6384" y="178308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</a:t>
            </a:r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5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3C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production-shaped RAG reference application — grounding a large language model in your own private documents for accurate, cited answers.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709160"/>
            <a:ext cx="1810512" cy="51206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E97C4"/>
            </a:solidFill>
            <a:prstDash val="solid"/>
          </a:ln>
        </p:spPr>
      </p:sp>
      <p:pic>
        <p:nvPicPr>
          <p:cNvPr id="6" name="Image 0" descr="/home/user/RAG-App/enterprise-rag-app/presentation/assets/server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484632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3584" y="4709160"/>
            <a:ext cx="13533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2816352" y="4709160"/>
            <a:ext cx="2578608" cy="51206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E97C4"/>
            </a:solidFill>
            <a:prstDash val="solid"/>
          </a:ln>
        </p:spPr>
      </p:sp>
      <p:pic>
        <p:nvPicPr>
          <p:cNvPr id="9" name="Image 1" descr="/home/user/RAG-App/enterprise-rag-app/presentation/assets/database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656" y="484632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36976" y="4709160"/>
            <a:ext cx="21214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577840" y="4709160"/>
            <a:ext cx="1682496" cy="51206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E97C4"/>
            </a:solidFill>
            <a:prstDash val="solid"/>
          </a:ln>
        </p:spPr>
      </p:sp>
      <p:pic>
        <p:nvPicPr>
          <p:cNvPr id="12" name="Image 2" descr="/home/user/RAG-App/enterprise-rag-app/presentation/assets/wandsparkles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144" y="4846320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998464" y="4709160"/>
            <a:ext cx="1225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7443216" y="4709160"/>
            <a:ext cx="3218688" cy="51206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E97C4"/>
            </a:solidFill>
            <a:prstDash val="solid"/>
          </a:ln>
        </p:spPr>
      </p:sp>
      <p:pic>
        <p:nvPicPr>
          <p:cNvPr id="15" name="Image 3" descr="/home/user/RAG-App/enterprise-rag-app/presentation/assets/code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4846320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863840" y="4709160"/>
            <a:ext cx="2761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9525">
            <a:solidFill>
              <a:srgbClr val="8E97C4">
                <a:alpha val="60000"/>
              </a:srgbClr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822960" y="5943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C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Gadgets  ·  Knowledge Assistant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85216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3C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Demonstration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4C5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486400" cy="1298448"/>
          </a:xfrm>
          <a:prstGeom prst="roundRect">
            <a:avLst>
              <a:gd name="adj" fmla="val 7042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11096"/>
            <a:ext cx="676656" cy="676656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6" name="Image 0" descr="/home/user/RAG-App/enterprise-rag-app/presentation/assets/warn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891" y="2087027"/>
            <a:ext cx="324795" cy="3247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93208" y="174650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E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664208" y="183794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664208" y="222199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standalone LLMs fall short for enterprise knowledge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6928" y="3081528"/>
            <a:ext cx="5486400" cy="1298448"/>
          </a:xfrm>
          <a:prstGeom prst="roundRect">
            <a:avLst>
              <a:gd name="adj" fmla="val 7042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392424"/>
            <a:ext cx="676656" cy="676656"/>
          </a:xfrm>
          <a:prstGeom prst="ellipse">
            <a:avLst/>
          </a:prstGeom>
          <a:solidFill>
            <a:srgbClr val="4C5BD4"/>
          </a:solidFill>
          <a:ln/>
        </p:spPr>
      </p:sp>
      <p:pic>
        <p:nvPicPr>
          <p:cNvPr id="12" name="Image 1" descr="/home/user/RAG-App/enterprise-rag-app/presentation/assets/bra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891" y="3568355"/>
            <a:ext cx="324795" cy="32479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93208" y="322783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E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1664208" y="33192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RAG is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1664208" y="37033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+ generation, explained end to end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66928" y="4562856"/>
            <a:ext cx="5486400" cy="1298448"/>
          </a:xfrm>
          <a:prstGeom prst="roundRect">
            <a:avLst>
              <a:gd name="adj" fmla="val 7042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4873752"/>
            <a:ext cx="676656" cy="676656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8" name="Image 2" descr="/home/user/RAG-App/enterprise-rag-app/presentation/assets/sitema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891" y="5049683"/>
            <a:ext cx="324795" cy="32479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93208" y="47091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E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1664208" y="48006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664208" y="518464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reference application is built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601968" y="1600200"/>
            <a:ext cx="5486400" cy="1298448"/>
          </a:xfrm>
          <a:prstGeom prst="roundRect">
            <a:avLst>
              <a:gd name="adj" fmla="val 7042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58000" y="1911096"/>
            <a:ext cx="676656" cy="676656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24" name="Image 3" descr="/home/user/RAG-App/enterprise-rag-app/presentation/assets/boxesstacke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3931" y="2087027"/>
            <a:ext cx="324795" cy="32479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128248" y="174650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E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6" name="Text 20"/>
          <p:cNvSpPr/>
          <p:nvPr/>
        </p:nvSpPr>
        <p:spPr>
          <a:xfrm>
            <a:off x="7699248" y="183794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pipeline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7699248" y="222199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documents into searchable knowledge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6601968" y="3081528"/>
            <a:ext cx="5486400" cy="1298448"/>
          </a:xfrm>
          <a:prstGeom prst="roundRect">
            <a:avLst>
              <a:gd name="adj" fmla="val 7042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858000" y="3392424"/>
            <a:ext cx="676656" cy="67665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0" name="Image 4" descr="/home/user/RAG-App/enterprise-rag-app/presentation/assets/search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3931" y="3568355"/>
            <a:ext cx="324795" cy="32479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1128248" y="322783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E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32" name="Text 25"/>
          <p:cNvSpPr/>
          <p:nvPr/>
        </p:nvSpPr>
        <p:spPr>
          <a:xfrm>
            <a:off x="7699248" y="33192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&amp; grounding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7699248" y="37033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Retrieval, citations, and hallucination control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6601968" y="4562856"/>
            <a:ext cx="5486400" cy="1298448"/>
          </a:xfrm>
          <a:prstGeom prst="roundRect">
            <a:avLst>
              <a:gd name="adj" fmla="val 7042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858000" y="4873752"/>
            <a:ext cx="676656" cy="676656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6" name="Image 5" descr="/home/user/RAG-App/enterprise-rag-app/presentation/assets/moneybill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3931" y="5049683"/>
            <a:ext cx="324795" cy="324795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1128248" y="47091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E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38" name="Text 30"/>
          <p:cNvSpPr/>
          <p:nvPr/>
        </p:nvSpPr>
        <p:spPr>
          <a:xfrm>
            <a:off x="7699248" y="48006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roadmap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7699248" y="518464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Outcomes, use cases, and the path to production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 ·  Enterprise Reference Application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plain LLM isn't enough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powerful language model still can't see your documents — so when it's asked about them, it guesses.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5486400" cy="1874520"/>
          </a:xfrm>
          <a:prstGeom prst="roundRect">
            <a:avLst>
              <a:gd name="adj" fmla="val 4878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295144"/>
            <a:ext cx="749808" cy="749808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7" name="Image 0" descr="/home/user/RAG-App/enterprise-rag-app/presentation/assets/warn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774" y="2490094"/>
            <a:ext cx="359908" cy="3599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10512" y="235000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810512" y="2807208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invent plausible-sounding but false answers when they don't know — with total confidence and no warning.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01968" y="1965960"/>
            <a:ext cx="5486400" cy="1874520"/>
          </a:xfrm>
          <a:prstGeom prst="roundRect">
            <a:avLst>
              <a:gd name="adj" fmla="val 4878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912864" y="2295144"/>
            <a:ext cx="749808" cy="74980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2" name="Image 1" descr="/home/user/RAG-App/enterprise-rag-app/presentation/assets/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7814" y="2490094"/>
            <a:ext cx="359908" cy="3599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845552" y="235000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private knowledge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7845552" y="2807208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handbooks, policies, and product data were never in the training set. The model simply can't see them.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66928" y="4160520"/>
            <a:ext cx="5486400" cy="1874520"/>
          </a:xfrm>
          <a:prstGeom prst="roundRect">
            <a:avLst>
              <a:gd name="adj" fmla="val 4878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77824" y="4489704"/>
            <a:ext cx="749808" cy="74980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7" name="Image 2" descr="/home/user/RAG-App/enterprise-rag-app/presentation/assets/bookmar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774" y="4684654"/>
            <a:ext cx="359908" cy="3599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10512" y="454456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sources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1810512" y="5001768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bare answer can't be trusted or audited — there's no citation to verify where a claim came from.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601968" y="4160520"/>
            <a:ext cx="5486400" cy="1874520"/>
          </a:xfrm>
          <a:prstGeom prst="roundRect">
            <a:avLst>
              <a:gd name="adj" fmla="val 4878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912864" y="4489704"/>
            <a:ext cx="749808" cy="749808"/>
          </a:xfrm>
          <a:prstGeom prst="ellipse">
            <a:avLst/>
          </a:prstGeom>
          <a:solidFill>
            <a:srgbClr val="4C5BD4"/>
          </a:solidFill>
          <a:ln/>
        </p:spPr>
      </p:sp>
      <p:pic>
        <p:nvPicPr>
          <p:cNvPr id="22" name="Image 3" descr="/home/user/RAG-App/enterprise-rag-app/presentation/assets/gaug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7814" y="4684654"/>
            <a:ext cx="359908" cy="3599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845552" y="454456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&amp; costly to retrain</a:t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7845552" y="5001768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a model on every document change is slow and expensive. Knowledge goes out of date fast.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 ·  Enterprise Reference Application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4C5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Retrieval-Augmented Generation?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connects a language model to a searchable library of </a:t>
            </a:r>
            <a:pPr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4C5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documents</a:t>
            </a:r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Before answering, it </a:t>
            </a:r>
            <a:pPr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</a:t>
            </a:r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passages most relevant to the question, then </a:t>
            </a:r>
            <a:pPr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</a:t>
            </a:r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answer grounded only in what it found — with citations.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66928" y="2514600"/>
            <a:ext cx="5074920" cy="2331720"/>
          </a:xfrm>
          <a:prstGeom prst="roundRect">
            <a:avLst>
              <a:gd name="adj" fmla="val 3922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807208"/>
            <a:ext cx="868680" cy="86868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7" name="Image 0" descr="/home/user/RAG-App/enterprise-rag-app/presentation/asset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3033065"/>
            <a:ext cx="416966" cy="416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28986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920240" y="31729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right context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96112" y="3813048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turned into a vector and matched against an index of document chunks. The closest passages are pulled back as evidence.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852160" y="3378708"/>
            <a:ext cx="603504" cy="603504"/>
          </a:xfrm>
          <a:prstGeom prst="ellipse">
            <a:avLst/>
          </a:prstGeom>
          <a:solidFill>
            <a:srgbClr val="1B2559"/>
          </a:solidFill>
          <a:ln/>
          <a:effectLst>
            <a:outerShdw sx="100000" sy="100000" kx="0" ky="0" algn="bl" rotWithShape="0" blurRad="101600" dist="25400" dir="5400000">
              <a:srgbClr val="1B2559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52160" y="329641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6547104" y="2514600"/>
            <a:ext cx="5074920" cy="2331720"/>
          </a:xfrm>
          <a:prstGeom prst="roundRect">
            <a:avLst>
              <a:gd name="adj" fmla="val 3922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848856" y="2807208"/>
            <a:ext cx="868680" cy="8686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5" name="Image 1" descr="/home/user/RAG-App/enterprise-rag-app/presentation/assets/bra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4713" y="3033065"/>
            <a:ext cx="416966" cy="41696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900416" y="28986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900416" y="31729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Answer, grounded &amp; cited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876288" y="3813048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writes an answer using only the retrieved passages, citing each fact inline — and says "I don't know" when the answer isn't there.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66928" y="5138928"/>
            <a:ext cx="11055096" cy="969264"/>
          </a:xfrm>
          <a:prstGeom prst="roundRect">
            <a:avLst>
              <a:gd name="adj" fmla="val 9434"/>
            </a:avLst>
          </a:prstGeom>
          <a:solidFill>
            <a:srgbClr val="1B2559"/>
          </a:solidFill>
          <a:ln/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41248" y="5330952"/>
            <a:ext cx="603504" cy="603504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21" name="Image 2" descr="/home/user/RAG-App/enterprise-rag-app/presentation/asset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159" y="5487863"/>
            <a:ext cx="289682" cy="28968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45920" y="5138928"/>
            <a:ext cx="97840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3C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fluency of an LLM, anchored to facts from 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3C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knowledge base — no retraining, always current, fully auditable.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 ·  Enterprise Reference Application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4C5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RAG works — two flows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INGEST  —  build the knowledge index (offline)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755648"/>
            <a:ext cx="2148840" cy="1371600"/>
          </a:xfrm>
          <a:prstGeom prst="roundRect">
            <a:avLst>
              <a:gd name="adj" fmla="val 6667"/>
            </a:avLst>
          </a:prstGeom>
          <a:solidFill>
            <a:srgbClr val="16A34A"/>
          </a:solidFill>
          <a:ln/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20116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24688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→ index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99232" y="1755648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AAB4D4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93008" y="1938528"/>
            <a:ext cx="585216" cy="585216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0" name="Image 0" descr="/home/user/RAG-App/enterprise-rag-app/presentation/assets/fi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5164" y="2090684"/>
            <a:ext cx="280904" cy="2809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054096" y="259689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files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90288" y="2322576"/>
            <a:ext cx="219456" cy="237744"/>
          </a:xfrm>
          <a:prstGeom prst="rightArrow">
            <a:avLst/>
          </a:prstGeom>
          <a:solidFill>
            <a:srgbClr val="16A34A"/>
          </a:solidFill>
          <a:ln/>
        </p:spPr>
      </p:sp>
      <p:sp>
        <p:nvSpPr>
          <p:cNvPr id="13" name="Shape 10"/>
          <p:cNvSpPr/>
          <p:nvPr/>
        </p:nvSpPr>
        <p:spPr>
          <a:xfrm>
            <a:off x="4828032" y="1755648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AAB4D4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321808" y="1938528"/>
            <a:ext cx="585216" cy="585216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5" name="Image 1" descr="/home/user/RAG-App/enterprise-rag-app/presentation/assets/lay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964" y="2090684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82896" y="259689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chunks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419088" y="2322576"/>
            <a:ext cx="219456" cy="237744"/>
          </a:xfrm>
          <a:prstGeom prst="rightArrow">
            <a:avLst/>
          </a:prstGeom>
          <a:solidFill>
            <a:srgbClr val="16A34A"/>
          </a:solidFill>
          <a:ln/>
        </p:spPr>
      </p:sp>
      <p:sp>
        <p:nvSpPr>
          <p:cNvPr id="18" name="Shape 14"/>
          <p:cNvSpPr/>
          <p:nvPr/>
        </p:nvSpPr>
        <p:spPr>
          <a:xfrm>
            <a:off x="6656832" y="1755648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AAB4D4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50608" y="1938528"/>
            <a:ext cx="585216" cy="585216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20" name="Image 2" descr="/home/user/RAG-App/enterprise-rag-app/presentation/assets/circlenode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764" y="2090684"/>
            <a:ext cx="280904" cy="28090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11696" y="259689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vectors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247888" y="2322576"/>
            <a:ext cx="219456" cy="237744"/>
          </a:xfrm>
          <a:prstGeom prst="rightArrow">
            <a:avLst/>
          </a:prstGeom>
          <a:solidFill>
            <a:srgbClr val="16A34A"/>
          </a:solidFill>
          <a:ln/>
        </p:spPr>
      </p:sp>
      <p:sp>
        <p:nvSpPr>
          <p:cNvPr id="23" name="Shape 18"/>
          <p:cNvSpPr/>
          <p:nvPr/>
        </p:nvSpPr>
        <p:spPr>
          <a:xfrm>
            <a:off x="8485632" y="1755648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AAB4D4">
                <a:alpha val="3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979408" y="1938528"/>
            <a:ext cx="585216" cy="585216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25" name="Image 3" descr="/home/user/RAG-App/enterprise-rag-app/presentation/assets/datab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1564" y="2090684"/>
            <a:ext cx="280904" cy="28090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540496" y="259689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 index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566928" y="35204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ASK  —  answer a question, grounded &amp; cited (online)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566928" y="3858768"/>
            <a:ext cx="2148840" cy="1371600"/>
          </a:xfrm>
          <a:prstGeom prst="roundRect">
            <a:avLst>
              <a:gd name="adj" fmla="val 6667"/>
            </a:avLst>
          </a:prstGeom>
          <a:solidFill>
            <a:srgbClr val="8B5CF6"/>
          </a:solidFill>
          <a:ln/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566928" y="41148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658368" y="45720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→ answer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2999232" y="3858768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AAB4D4">
                <a:alpha val="3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493008" y="4041648"/>
            <a:ext cx="585216" cy="58521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3" name="Image 4" descr="/home/user/RAG-App/enterprise-rag-app/presentation/assets/circlenode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5164" y="4193804"/>
            <a:ext cx="280904" cy="28090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054096" y="470001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question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4590288" y="4425696"/>
            <a:ext cx="219456" cy="237744"/>
          </a:xfrm>
          <a:prstGeom prst="rightArrow">
            <a:avLst/>
          </a:prstGeom>
          <a:solidFill>
            <a:srgbClr val="8B5CF6"/>
          </a:solidFill>
          <a:ln/>
        </p:spPr>
      </p:sp>
      <p:sp>
        <p:nvSpPr>
          <p:cNvPr id="36" name="Shape 29"/>
          <p:cNvSpPr/>
          <p:nvPr/>
        </p:nvSpPr>
        <p:spPr>
          <a:xfrm>
            <a:off x="4828032" y="3858768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AAB4D4">
                <a:alpha val="3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5321808" y="4041648"/>
            <a:ext cx="585216" cy="58521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8" name="Image 5" descr="/home/user/RAG-App/enterprise-rag-app/presentation/assets/search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3964" y="4193804"/>
            <a:ext cx="280904" cy="28090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4882896" y="470001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search</a:t>
            </a:r>
            <a:endParaRPr lang="en-US" sz="1150" dirty="0"/>
          </a:p>
        </p:txBody>
      </p:sp>
      <p:sp>
        <p:nvSpPr>
          <p:cNvPr id="40" name="Shape 32"/>
          <p:cNvSpPr/>
          <p:nvPr/>
        </p:nvSpPr>
        <p:spPr>
          <a:xfrm>
            <a:off x="6419088" y="4425696"/>
            <a:ext cx="219456" cy="237744"/>
          </a:xfrm>
          <a:prstGeom prst="rightArrow">
            <a:avLst/>
          </a:prstGeom>
          <a:solidFill>
            <a:srgbClr val="8B5CF6"/>
          </a:solidFill>
          <a:ln/>
        </p:spPr>
      </p:sp>
      <p:sp>
        <p:nvSpPr>
          <p:cNvPr id="41" name="Shape 33"/>
          <p:cNvSpPr/>
          <p:nvPr/>
        </p:nvSpPr>
        <p:spPr>
          <a:xfrm>
            <a:off x="6656832" y="3858768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AAB4D4">
                <a:alpha val="30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7150608" y="4041648"/>
            <a:ext cx="585216" cy="58521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43" name="Image 6" descr="/home/user/RAG-App/enterprise-rag-app/presentation/assets/quot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2764" y="4193804"/>
            <a:ext cx="280904" cy="280904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6711696" y="470001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context</a:t>
            </a:r>
            <a:endParaRPr lang="en-US" sz="1150" dirty="0"/>
          </a:p>
        </p:txBody>
      </p:sp>
      <p:sp>
        <p:nvSpPr>
          <p:cNvPr id="45" name="Shape 36"/>
          <p:cNvSpPr/>
          <p:nvPr/>
        </p:nvSpPr>
        <p:spPr>
          <a:xfrm>
            <a:off x="8247888" y="4425696"/>
            <a:ext cx="219456" cy="237744"/>
          </a:xfrm>
          <a:prstGeom prst="rightArrow">
            <a:avLst/>
          </a:prstGeom>
          <a:solidFill>
            <a:srgbClr val="8B5CF6"/>
          </a:solidFill>
          <a:ln/>
        </p:spPr>
      </p:sp>
      <p:sp>
        <p:nvSpPr>
          <p:cNvPr id="46" name="Shape 37"/>
          <p:cNvSpPr/>
          <p:nvPr/>
        </p:nvSpPr>
        <p:spPr>
          <a:xfrm>
            <a:off x="8485632" y="3858768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AAB4D4">
                <a:alpha val="30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8979408" y="4041648"/>
            <a:ext cx="585216" cy="58521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48" name="Image 7" descr="/home/user/RAG-App/enterprise-rag-app/presentation/assets/brain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31564" y="4193804"/>
            <a:ext cx="280904" cy="280904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8540496" y="470001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answers</a:t>
            </a:r>
            <a:endParaRPr lang="en-US" sz="1150" dirty="0"/>
          </a:p>
        </p:txBody>
      </p:sp>
      <p:sp>
        <p:nvSpPr>
          <p:cNvPr id="50" name="Text 40"/>
          <p:cNvSpPr/>
          <p:nvPr/>
        </p:nvSpPr>
        <p:spPr>
          <a:xfrm>
            <a:off x="566928" y="5806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flows are driven by one class — </a:t>
            </a:r>
            <a:pPr algn="ctr" indent="0" marL="0">
              <a:buNone/>
            </a:pPr>
            <a:r>
              <a:rPr lang="en-US" sz="1300" b="1" dirty="0">
                <a:solidFill>
                  <a:srgbClr val="4C5B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RagPipeline</a:t>
            </a:r>
            <a:pPr algn="ctr"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(backend/app/rag/pipeline.py)</a:t>
            </a:r>
            <a:endParaRPr lang="en-US" sz="1300" dirty="0"/>
          </a:p>
        </p:txBody>
      </p:sp>
      <p:sp>
        <p:nvSpPr>
          <p:cNvPr id="51" name="Text 41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 ·  Enterprise Reference Application</a:t>
            </a:r>
            <a:endParaRPr lang="en-US" sz="900" dirty="0"/>
          </a:p>
        </p:txBody>
      </p:sp>
      <p:sp>
        <p:nvSpPr>
          <p:cNvPr id="52" name="Text 42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86384" y="2697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Application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3C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pipelines, and the enterprise use case in detail.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4805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user/RAG-App/enterprise-rag-app/presentation/assets/sitemap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361" y="462796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7048" y="448056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584448" y="44805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/home/user/RAG-App/enterprise-rag-app/presentation/assets/boxesstacked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1849" y="4627961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88536" y="448056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345936" y="44805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user/RAG-App/enterprise-rag-app/presentation/assets/search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337" y="4627961"/>
            <a:ext cx="272125" cy="2721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50024" y="448056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 CASE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Gadgets — Knowledge Assistant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chat assistant that answers employee and customer questions from the company's own documents — instantly, and always with a source.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SOURCES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359152"/>
            <a:ext cx="5257800" cy="1024128"/>
          </a:xfrm>
          <a:prstGeom prst="roundRect">
            <a:avLst>
              <a:gd name="adj" fmla="val 8929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AAB4D4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578608"/>
            <a:ext cx="585216" cy="585216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8" name="Image 0" descr="/home/user/RAG-App/enterprise-rag-app/presentation/assets/fi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116" y="2730764"/>
            <a:ext cx="280904" cy="2809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72768" y="25420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Handbook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572768" y="2889504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Hours, PTO, remote work, expenses, IT support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3520440"/>
            <a:ext cx="5257800" cy="1024128"/>
          </a:xfrm>
          <a:prstGeom prst="roundRect">
            <a:avLst>
              <a:gd name="adj" fmla="val 8929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AAB4D4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22960" y="3739896"/>
            <a:ext cx="585216" cy="58521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3" name="Image 1" descr="/home/user/RAG-App/enterprise-rag-app/presentation/assets/heads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116" y="3892052"/>
            <a:ext cx="280904" cy="2809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72768" y="37033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FAQ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1572768" y="405079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GlowMug setup, charging, troubleshooting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66928" y="4681728"/>
            <a:ext cx="5257800" cy="1024128"/>
          </a:xfrm>
          <a:prstGeom prst="roundRect">
            <a:avLst>
              <a:gd name="adj" fmla="val 8929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AAB4D4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4901184"/>
            <a:ext cx="585216" cy="585216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8" name="Image 2" descr="/home/user/RAG-App/enterprise-rag-app/presentation/assets/sca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116" y="5053340"/>
            <a:ext cx="280904" cy="280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72768" y="48646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&amp; Warranty Policy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1572768" y="521208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window, warranty terms, refund process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7220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GROUNDED ANSWER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172200" y="2359152"/>
            <a:ext cx="5449824" cy="3584448"/>
          </a:xfrm>
          <a:prstGeom prst="roundRect">
            <a:avLst>
              <a:gd name="adj" fmla="val 2551"/>
            </a:avLst>
          </a:prstGeom>
          <a:solidFill>
            <a:srgbClr val="EEF2FB"/>
          </a:solidFill>
          <a:ln/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315200" y="2606040"/>
            <a:ext cx="4114800" cy="566928"/>
          </a:xfrm>
          <a:prstGeom prst="roundRect">
            <a:avLst>
              <a:gd name="adj" fmla="val 22581"/>
            </a:avLst>
          </a:prstGeom>
          <a:solidFill>
            <a:srgbClr val="4C5BD4"/>
          </a:solidFill>
          <a:ln/>
          <a:effectLst>
            <a:outerShdw sx="100000" sy="100000" kx="0" ky="0" algn="bl" rotWithShape="0" blurRad="76200" dist="25400" dir="5400000">
              <a:srgbClr val="4C5BD4">
                <a:alpha val="30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7424928" y="2606040"/>
            <a:ext cx="38953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days can I work remotely?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373368" y="3383280"/>
            <a:ext cx="461772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AAB4D4">
                <a:alpha val="30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6528816" y="3493008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may work remotely up to </a:t>
            </a:r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 per week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More than that requires director approval, reviewed quarterly </a:t>
            </a:r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4C5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6373368" y="4937760"/>
            <a:ext cx="461772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510528" y="506577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/>
        </p:spPr>
      </p:sp>
      <p:sp>
        <p:nvSpPr>
          <p:cNvPr id="29" name="Text 24"/>
          <p:cNvSpPr/>
          <p:nvPr/>
        </p:nvSpPr>
        <p:spPr>
          <a:xfrm>
            <a:off x="6510528" y="5065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7004304" y="50292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company_handbook.md</a:t>
            </a:r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similarity 0.91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7004304" y="528523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“Employees may work remotely up to 3 days per week…”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 ·  Enterprise Reference Application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4C5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pipeline, two lifecycles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5" name="Image 0" descr="/home/user/RAG-App/enterprise-rag-app/presentation/assets/boxesstacke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574" y="174284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25296" y="156362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indexing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25296" y="1892808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loaded, chunked, embedded and persisted to the vector store.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66928" y="3118104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9" name="Image 1" descr="/home/user/RAG-App/enterprise-rag-app/presentation/assets/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74" y="3260750"/>
            <a:ext cx="263347" cy="2633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25296" y="30815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retrieval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25296" y="3410712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question is embedded and matched against the index to fetch context.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66928" y="4636008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3" name="Image 2" descr="/home/user/RAG-App/enterprise-rag-app/presentation/asset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74" y="4778654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25296" y="45994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output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25296" y="4928616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answers from retrieved context and returns sources with every reply.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069080" y="1481328"/>
            <a:ext cx="7680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pic>
        <p:nvPicPr>
          <p:cNvPr id="17" name="Image 3" descr="/home/user/RAG-App/enterprise-rag-app/artefacts/RAG Diagr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1636776"/>
            <a:ext cx="7406640" cy="4937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 ·  Enterprise Reference Application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PIPELINE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files to a searchable index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/ingest rebuilds the index end to end from backend/data/documents/.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2688336" cy="2103120"/>
          </a:xfrm>
          <a:prstGeom prst="roundRect">
            <a:avLst>
              <a:gd name="adj" fmla="val 4348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21992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21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8" name="Image 0" descr="/home/user/RAG-App/enterprise-rag-app/presentation/assets/file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2240280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807208"/>
            <a:ext cx="22311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3191256"/>
            <a:ext cx="22311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every .txt / .md / .pdf on disk into content units.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36976" y="2916936"/>
            <a:ext cx="182880" cy="201168"/>
          </a:xfrm>
          <a:prstGeom prst="rightArrow">
            <a:avLst/>
          </a:prstGeom>
          <a:solidFill>
            <a:srgbClr val="16A34A"/>
          </a:solidFill>
          <a:ln/>
        </p:spPr>
      </p:sp>
      <p:sp>
        <p:nvSpPr>
          <p:cNvPr id="12" name="Shape 9"/>
          <p:cNvSpPr/>
          <p:nvPr/>
        </p:nvSpPr>
        <p:spPr>
          <a:xfrm>
            <a:off x="3419856" y="1965960"/>
            <a:ext cx="2688336" cy="2103120"/>
          </a:xfrm>
          <a:prstGeom prst="roundRect">
            <a:avLst>
              <a:gd name="adj" fmla="val 4348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75888" y="2221992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4" name="Text 11"/>
          <p:cNvSpPr/>
          <p:nvPr/>
        </p:nvSpPr>
        <p:spPr>
          <a:xfrm>
            <a:off x="3675888" y="2221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5" name="Image 1" descr="/home/user/RAG-App/enterprise-rag-app/presentation/assets/layers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2240280"/>
            <a:ext cx="420624" cy="4206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75888" y="2807208"/>
            <a:ext cx="22311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675888" y="3191256"/>
            <a:ext cx="22311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text → overlapping word windows so nothing exceeds the embed limit.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089904" y="2916936"/>
            <a:ext cx="182880" cy="201168"/>
          </a:xfrm>
          <a:prstGeom prst="rightArrow">
            <a:avLst/>
          </a:prstGeom>
          <a:solidFill>
            <a:srgbClr val="16A34A"/>
          </a:solidFill>
          <a:ln/>
        </p:spPr>
      </p:sp>
      <p:sp>
        <p:nvSpPr>
          <p:cNvPr id="19" name="Shape 15"/>
          <p:cNvSpPr/>
          <p:nvPr/>
        </p:nvSpPr>
        <p:spPr>
          <a:xfrm>
            <a:off x="6272784" y="1965960"/>
            <a:ext cx="2688336" cy="2103120"/>
          </a:xfrm>
          <a:prstGeom prst="roundRect">
            <a:avLst>
              <a:gd name="adj" fmla="val 4348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528816" y="2221992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7"/>
          <p:cNvSpPr/>
          <p:nvPr/>
        </p:nvSpPr>
        <p:spPr>
          <a:xfrm>
            <a:off x="6528816" y="2221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2" name="Image 2" descr="/home/user/RAG-App/enterprise-rag-app/presentation/assets/circlenodes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36" y="2240280"/>
            <a:ext cx="420624" cy="42062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528816" y="2807208"/>
            <a:ext cx="22311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6528816" y="3191256"/>
            <a:ext cx="22311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chunk becomes a 1536-dim vector via text-embedding-3-small.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942832" y="2916936"/>
            <a:ext cx="182880" cy="201168"/>
          </a:xfrm>
          <a:prstGeom prst="rightArrow">
            <a:avLst/>
          </a:prstGeom>
          <a:solidFill>
            <a:srgbClr val="16A34A"/>
          </a:solidFill>
          <a:ln/>
        </p:spPr>
      </p:sp>
      <p:sp>
        <p:nvSpPr>
          <p:cNvPr id="26" name="Shape 21"/>
          <p:cNvSpPr/>
          <p:nvPr/>
        </p:nvSpPr>
        <p:spPr>
          <a:xfrm>
            <a:off x="9125712" y="1965960"/>
            <a:ext cx="2688336" cy="2103120"/>
          </a:xfrm>
          <a:prstGeom prst="roundRect">
            <a:avLst>
              <a:gd name="adj" fmla="val 4348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381744" y="2221992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8" name="Text 23"/>
          <p:cNvSpPr/>
          <p:nvPr/>
        </p:nvSpPr>
        <p:spPr>
          <a:xfrm>
            <a:off x="9381744" y="2221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29" name="Image 3" descr="/home/user/RAG-App/enterprise-rag-app/presentation/assets/database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7664" y="2240280"/>
            <a:ext cx="420624" cy="42062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381744" y="2807208"/>
            <a:ext cx="22311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9381744" y="3191256"/>
            <a:ext cx="22311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Bulk-index vectors + metadata into an Elasticsearch dense_vector field.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566928" y="4434840"/>
            <a:ext cx="2688336" cy="1234440"/>
          </a:xfrm>
          <a:prstGeom prst="roundRect">
            <a:avLst>
              <a:gd name="adj" fmla="val 7407"/>
            </a:avLst>
          </a:prstGeom>
          <a:solidFill>
            <a:srgbClr val="1B2559"/>
          </a:solidFill>
          <a:ln/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658368" y="4617720"/>
            <a:ext cx="2505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3400" dirty="0"/>
          </a:p>
        </p:txBody>
      </p:sp>
      <p:sp>
        <p:nvSpPr>
          <p:cNvPr id="34" name="Text 28"/>
          <p:cNvSpPr/>
          <p:nvPr/>
        </p:nvSpPr>
        <p:spPr>
          <a:xfrm>
            <a:off x="658368" y="5276088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3C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PER CHUNK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3419856" y="4434840"/>
            <a:ext cx="2688336" cy="1234440"/>
          </a:xfrm>
          <a:prstGeom prst="roundRect">
            <a:avLst>
              <a:gd name="adj" fmla="val 7407"/>
            </a:avLst>
          </a:prstGeom>
          <a:solidFill>
            <a:srgbClr val="1B2559"/>
          </a:solidFill>
          <a:ln/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36" name="Text 30"/>
          <p:cNvSpPr/>
          <p:nvPr/>
        </p:nvSpPr>
        <p:spPr>
          <a:xfrm>
            <a:off x="3511296" y="4617720"/>
            <a:ext cx="2505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400" dirty="0"/>
          </a:p>
        </p:txBody>
      </p:sp>
      <p:sp>
        <p:nvSpPr>
          <p:cNvPr id="37" name="Text 31"/>
          <p:cNvSpPr/>
          <p:nvPr/>
        </p:nvSpPr>
        <p:spPr>
          <a:xfrm>
            <a:off x="3511296" y="5276088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3C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OVERLAP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6272784" y="4434840"/>
            <a:ext cx="2688336" cy="1234440"/>
          </a:xfrm>
          <a:prstGeom prst="roundRect">
            <a:avLst>
              <a:gd name="adj" fmla="val 7407"/>
            </a:avLst>
          </a:prstGeom>
          <a:solidFill>
            <a:srgbClr val="1B2559"/>
          </a:solidFill>
          <a:ln/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39" name="Text 33"/>
          <p:cNvSpPr/>
          <p:nvPr/>
        </p:nvSpPr>
        <p:spPr>
          <a:xfrm>
            <a:off x="6364224" y="4617720"/>
            <a:ext cx="2505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C5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1,536</a:t>
            </a:r>
            <a:endParaRPr lang="en-US" sz="3400" dirty="0"/>
          </a:p>
        </p:txBody>
      </p:sp>
      <p:sp>
        <p:nvSpPr>
          <p:cNvPr id="40" name="Text 34"/>
          <p:cNvSpPr/>
          <p:nvPr/>
        </p:nvSpPr>
        <p:spPr>
          <a:xfrm>
            <a:off x="6364224" y="5276088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3C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DIMENSIONS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9125712" y="4434840"/>
            <a:ext cx="2688336" cy="1234440"/>
          </a:xfrm>
          <a:prstGeom prst="roundRect">
            <a:avLst>
              <a:gd name="adj" fmla="val 7407"/>
            </a:avLst>
          </a:prstGeom>
          <a:solidFill>
            <a:srgbClr val="1B2559"/>
          </a:solidFill>
          <a:ln/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42" name="Text 36"/>
          <p:cNvSpPr/>
          <p:nvPr/>
        </p:nvSpPr>
        <p:spPr>
          <a:xfrm>
            <a:off x="9217152" y="4617720"/>
            <a:ext cx="2505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endParaRPr lang="en-US" sz="3400" dirty="0"/>
          </a:p>
        </p:txBody>
      </p:sp>
      <p:sp>
        <p:nvSpPr>
          <p:cNvPr id="43" name="Text 37"/>
          <p:cNvSpPr/>
          <p:nvPr/>
        </p:nvSpPr>
        <p:spPr>
          <a:xfrm>
            <a:off x="9217152" y="5276088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3C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METRIC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 ·  Enterprise Reference Application</a:t>
            </a:r>
            <a:endParaRPr lang="en-US" sz="900" dirty="0"/>
          </a:p>
        </p:txBody>
      </p:sp>
      <p:sp>
        <p:nvSpPr>
          <p:cNvPr id="45" name="Text 3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4C5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PLAIN TEXT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ingestion — text, tables &amp; images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rarely hold only prose. The pipeline preserves three kinds of evidence, each treated as an equally valid source at answer time.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3602736" cy="3246120"/>
          </a:xfrm>
          <a:prstGeom prst="roundRect">
            <a:avLst>
              <a:gd name="adj" fmla="val 2817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386584"/>
            <a:ext cx="841248" cy="841248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88900" dist="25400" dir="5400000">
              <a:srgbClr val="16A34A">
                <a:alpha val="30000"/>
              </a:srgbClr>
            </a:outerShdw>
          </a:effectLst>
        </p:spPr>
      </p:sp>
      <p:pic>
        <p:nvPicPr>
          <p:cNvPr id="7" name="Image 0" descr="/home/user/RAG-App/enterprise-rag-app/presentation/assets/fi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836" y="2605308"/>
            <a:ext cx="403799" cy="4037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83664" y="2560320"/>
            <a:ext cx="2139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96112" y="3520440"/>
            <a:ext cx="2944368" cy="0"/>
          </a:xfrm>
          <a:prstGeom prst="line">
            <a:avLst/>
          </a:prstGeom>
          <a:noFill/>
          <a:ln w="12700">
            <a:solidFill>
              <a:srgbClr val="E1E7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3685032"/>
            <a:ext cx="29626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text is split into overlapping word windows.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96112" y="4453128"/>
            <a:ext cx="29626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more chunks per section — clean, embeddable prose.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297680" y="2057400"/>
            <a:ext cx="3602736" cy="3246120"/>
          </a:xfrm>
          <a:prstGeom prst="roundRect">
            <a:avLst>
              <a:gd name="adj" fmla="val 2817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26864" y="2386584"/>
            <a:ext cx="841248" cy="841248"/>
          </a:xfrm>
          <a:prstGeom prst="ellipse">
            <a:avLst/>
          </a:prstGeom>
          <a:solidFill>
            <a:srgbClr val="0EA5E9"/>
          </a:solidFill>
          <a:ln/>
          <a:effectLst>
            <a:outerShdw sx="100000" sy="100000" kx="0" ky="0" algn="bl" rotWithShape="0" blurRad="88900" dist="25400" dir="5400000">
              <a:srgbClr val="0EA5E9">
                <a:alpha val="30000"/>
              </a:srgbClr>
            </a:outerShdw>
          </a:effectLst>
        </p:spPr>
      </p:sp>
      <p:pic>
        <p:nvPicPr>
          <p:cNvPr id="14" name="Image 1" descr="/home/user/RAG-App/enterprise-rag-app/presentation/assets/tab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88" y="2605308"/>
            <a:ext cx="403799" cy="40379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14416" y="2560320"/>
            <a:ext cx="2139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4626864" y="3520440"/>
            <a:ext cx="2944368" cy="0"/>
          </a:xfrm>
          <a:prstGeom prst="line">
            <a:avLst/>
          </a:prstGeom>
          <a:noFill/>
          <a:ln w="12700">
            <a:solidFill>
              <a:srgbClr val="E1E7F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626864" y="3685032"/>
            <a:ext cx="29626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extract_tables() serializes each table to Markdown.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626864" y="4453128"/>
            <a:ext cx="29626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as one atomic chunk — a table is never split mid-row.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028432" y="2057400"/>
            <a:ext cx="3602736" cy="3246120"/>
          </a:xfrm>
          <a:prstGeom prst="roundRect">
            <a:avLst>
              <a:gd name="adj" fmla="val 2817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57616" y="2386584"/>
            <a:ext cx="841248" cy="841248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88900" dist="25400" dir="5400000">
              <a:srgbClr val="8B5CF6">
                <a:alpha val="30000"/>
              </a:srgbClr>
            </a:outerShdw>
          </a:effectLst>
        </p:spPr>
      </p:sp>
      <p:pic>
        <p:nvPicPr>
          <p:cNvPr id="21" name="Image 2" descr="/home/user/RAG-App/enterprise-rag-app/presentation/assets/ima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6340" y="2605308"/>
            <a:ext cx="403799" cy="403799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345168" y="2560320"/>
            <a:ext cx="2139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8357616" y="3520440"/>
            <a:ext cx="2944368" cy="0"/>
          </a:xfrm>
          <a:prstGeom prst="line">
            <a:avLst/>
          </a:prstGeom>
          <a:noFill/>
          <a:ln w="12700">
            <a:solidFill>
              <a:srgbClr val="E1E7F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357616" y="3685032"/>
            <a:ext cx="29626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images ≥80px are pulled out as PNG.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357616" y="4453128"/>
            <a:ext cx="29626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vision model writes a caption; decorative logos are skipped.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566928" y="5532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chunk carries metadata — </a:t>
            </a:r>
            <a:pPr algn="ctr" indent="0" marL="0">
              <a:buNone/>
            </a:pPr>
            <a:r>
              <a:rPr lang="en-US" sz="1350" b="1" dirty="0">
                <a:solidFill>
                  <a:srgbClr val="4C5B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source, page, content_type</a:t>
            </a:r>
            <a:pPr algn="ctr"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 answers can cite the exact file, page and evidence type.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 ·  Enterprise Reference Application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PIPELINE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a question, step by step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6" name="Image 0" descr="/home/user/RAG-App/enterprise-rag-app/presentation/assets/ch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0866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91056" y="188366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591056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22960" y="2615184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in natural language via the chat UI.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23944" y="2354580"/>
            <a:ext cx="182880" cy="182880"/>
          </a:xfrm>
          <a:prstGeom prst="rightArrow">
            <a:avLst/>
          </a:prstGeom>
          <a:solidFill>
            <a:srgbClr val="8B5CF6"/>
          </a:solidFill>
          <a:ln/>
        </p:spPr>
      </p:sp>
      <p:sp>
        <p:nvSpPr>
          <p:cNvPr id="11" name="Shape 8"/>
          <p:cNvSpPr/>
          <p:nvPr/>
        </p:nvSpPr>
        <p:spPr>
          <a:xfrm>
            <a:off x="4306824" y="164592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62856" y="192024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3" name="Image 1" descr="/home/user/RAG-App/enterprise-rag-app/presentation/assets/circlenode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277" y="20866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30952" y="188366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330952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4562856" y="2615184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embedded with the same model as the documents.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863840" y="2354580"/>
            <a:ext cx="182880" cy="182880"/>
          </a:xfrm>
          <a:prstGeom prst="rightArrow">
            <a:avLst/>
          </a:prstGeom>
          <a:solidFill>
            <a:srgbClr val="8B5CF6"/>
          </a:solidFill>
          <a:ln/>
        </p:spPr>
      </p:sp>
      <p:sp>
        <p:nvSpPr>
          <p:cNvPr id="18" name="Shape 14"/>
          <p:cNvSpPr/>
          <p:nvPr/>
        </p:nvSpPr>
        <p:spPr>
          <a:xfrm>
            <a:off x="8046720" y="164592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02752" y="192024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0" name="Image 2" descr="/home/user/RAG-App/enterprise-rag-app/presentation/assets/sear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173" y="2086661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70848" y="188366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9070848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search</a:t>
            </a:r>
            <a:endParaRPr lang="en-US" sz="1650" dirty="0"/>
          </a:p>
        </p:txBody>
      </p:sp>
      <p:sp>
        <p:nvSpPr>
          <p:cNvPr id="23" name="Text 18"/>
          <p:cNvSpPr/>
          <p:nvPr/>
        </p:nvSpPr>
        <p:spPr>
          <a:xfrm>
            <a:off x="8302752" y="2615184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returns the top_k = 4 closest chunks.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66928" y="3538728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2960" y="3813048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6" name="Image 3" descr="/home/user/RAG-App/enterprise-rag-app/presentation/assets/quot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3979469"/>
            <a:ext cx="307238" cy="30723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591056" y="37764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1591056" y="39959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context</a:t>
            </a:r>
            <a:endParaRPr lang="en-US" sz="1650" dirty="0"/>
          </a:p>
        </p:txBody>
      </p:sp>
      <p:sp>
        <p:nvSpPr>
          <p:cNvPr id="29" name="Text 23"/>
          <p:cNvSpPr/>
          <p:nvPr/>
        </p:nvSpPr>
        <p:spPr>
          <a:xfrm>
            <a:off x="822960" y="450799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become a numbered [1]…[4] context block.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123944" y="4247388"/>
            <a:ext cx="182880" cy="182880"/>
          </a:xfrm>
          <a:prstGeom prst="rightArrow">
            <a:avLst/>
          </a:prstGeom>
          <a:solidFill>
            <a:srgbClr val="8B5CF6"/>
          </a:solidFill>
          <a:ln/>
        </p:spPr>
      </p:sp>
      <p:sp>
        <p:nvSpPr>
          <p:cNvPr id="31" name="Shape 25"/>
          <p:cNvSpPr/>
          <p:nvPr/>
        </p:nvSpPr>
        <p:spPr>
          <a:xfrm>
            <a:off x="4306824" y="3538728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4562856" y="3813048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3" name="Image 4" descr="/home/user/RAG-App/enterprise-rag-app/presentation/assets/brai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9277" y="3979469"/>
            <a:ext cx="307238" cy="30723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330952" y="37764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5330952" y="39959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650" dirty="0"/>
          </a:p>
        </p:txBody>
      </p:sp>
      <p:sp>
        <p:nvSpPr>
          <p:cNvPr id="36" name="Text 29"/>
          <p:cNvSpPr/>
          <p:nvPr/>
        </p:nvSpPr>
        <p:spPr>
          <a:xfrm>
            <a:off x="4562856" y="450799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answers from context + last 6 turns of history.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7863840" y="4247388"/>
            <a:ext cx="182880" cy="182880"/>
          </a:xfrm>
          <a:prstGeom prst="rightArrow">
            <a:avLst/>
          </a:prstGeom>
          <a:solidFill>
            <a:srgbClr val="8B5CF6"/>
          </a:solidFill>
          <a:ln/>
        </p:spPr>
      </p:sp>
      <p:sp>
        <p:nvSpPr>
          <p:cNvPr id="38" name="Shape 31"/>
          <p:cNvSpPr/>
          <p:nvPr/>
        </p:nvSpPr>
        <p:spPr>
          <a:xfrm>
            <a:off x="8046720" y="3538728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8302752" y="3813048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40" name="Image 5" descr="/home/user/RAG-App/enterprise-rag-app/presentation/assets/shiel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9173" y="3979469"/>
            <a:ext cx="307238" cy="30723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9070848" y="37764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050" dirty="0"/>
          </a:p>
        </p:txBody>
      </p:sp>
      <p:sp>
        <p:nvSpPr>
          <p:cNvPr id="42" name="Text 34"/>
          <p:cNvSpPr/>
          <p:nvPr/>
        </p:nvSpPr>
        <p:spPr>
          <a:xfrm>
            <a:off x="9070848" y="39959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650" dirty="0"/>
          </a:p>
        </p:txBody>
      </p:sp>
      <p:sp>
        <p:nvSpPr>
          <p:cNvPr id="43" name="Text 35"/>
          <p:cNvSpPr/>
          <p:nvPr/>
        </p:nvSpPr>
        <p:spPr>
          <a:xfrm>
            <a:off x="8302752" y="450799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ranked sources returned to the UI.</a:t>
            </a:r>
            <a:endParaRPr lang="en-US" sz="1200" dirty="0"/>
          </a:p>
        </p:txBody>
      </p:sp>
      <p:sp>
        <p:nvSpPr>
          <p:cNvPr id="44" name="Text 36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 ·  Enterprise Reference Application</a:t>
            </a: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BY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answers, not guesses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GROUNDING CONTRACT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30352" cy="530352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6" name="Image 0" descr="/home/user/RAG-App/enterprise-rag-app/presentation/asset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820" y="2012412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8562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only from retrieved context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207008" y="2185416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instructed to use nothing but the numbered passages.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" y="2898648"/>
            <a:ext cx="530352" cy="530352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0" name="Image 1" descr="/home/user/RAG-App/enterprise-rag-app/presentation/assets/quot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20" y="3036540"/>
            <a:ext cx="254569" cy="25456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07008" y="2880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every fact inline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207008" y="3209544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claim carries its passage number — [1], [2] — traceable to a source.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66928" y="3922776"/>
            <a:ext cx="530352" cy="530352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4" name="Image 2" descr="/home/user/RAG-App/enterprise-rag-app/presentation/asset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20" y="4060668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07008" y="39044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“I don't know”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207008" y="4233672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answer isn't in the context, the model refuses to invent one.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66928" y="4946904"/>
            <a:ext cx="530352" cy="530352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8" name="Image 3" descr="/home/user/RAG-App/enterprise-rag-app/presentation/assets/gaug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20" y="5084796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07008" y="492861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temperature (0.2)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207008" y="525780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faithful phrasing over creative embellishment.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400800" y="1783080"/>
            <a:ext cx="5230368" cy="4160520"/>
          </a:xfrm>
          <a:prstGeom prst="roundRect">
            <a:avLst>
              <a:gd name="adj" fmla="val 2198"/>
            </a:avLst>
          </a:prstGeom>
          <a:solidFill>
            <a:srgbClr val="0F1533"/>
          </a:solidFill>
          <a:ln/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6675120" y="1965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 (excerpt)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675120" y="2331720"/>
            <a:ext cx="47091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C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answer using ONLY the numbered
context passages below.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E9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Rules: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4E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the answer isn't in the context,
  say you don't know — never make
  something up.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4E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Cite every fact inline using its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4E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passage number, e.g.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4E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4E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Reproduce relevant table rows as
  Markdown when useful.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4E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Keep answers concise.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 ·  Enterprise Reference Application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4C5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2688336" cy="3794760"/>
          </a:xfrm>
          <a:prstGeom prst="roundRect">
            <a:avLst>
              <a:gd name="adj" fmla="val 3401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3896" y="1965960"/>
            <a:ext cx="914400" cy="91440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101600" dist="25400" dir="5400000">
              <a:srgbClr val="16A34A">
                <a:alpha val="30000"/>
              </a:srgbClr>
            </a:outerShdw>
          </a:effectLst>
        </p:spPr>
      </p:sp>
      <p:pic>
        <p:nvPicPr>
          <p:cNvPr id="6" name="Image 0" descr="/home/user/RAG-App/enterprise-rag-app/presentation/assets/serv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20370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4088" y="3017520"/>
            <a:ext cx="2414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04088" y="3429000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API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024128" y="3813048"/>
            <a:ext cx="1773936" cy="0"/>
          </a:xfrm>
          <a:prstGeom prst="line">
            <a:avLst/>
          </a:prstGeom>
          <a:noFill/>
          <a:ln w="12700">
            <a:solidFill>
              <a:srgbClr val="E1E7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3959352"/>
            <a:ext cx="217627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Python service. Pydantic schemas are the contract; every route wires to RagPipeline.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19856" y="1600200"/>
            <a:ext cx="2688336" cy="3794760"/>
          </a:xfrm>
          <a:prstGeom prst="roundRect">
            <a:avLst>
              <a:gd name="adj" fmla="val 3401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06824" y="1965960"/>
            <a:ext cx="914400" cy="914400"/>
          </a:xfrm>
          <a:prstGeom prst="ellipse">
            <a:avLst/>
          </a:prstGeom>
          <a:solidFill>
            <a:srgbClr val="0EA5E9"/>
          </a:solidFill>
          <a:ln/>
          <a:effectLst>
            <a:outerShdw sx="100000" sy="100000" kx="0" ky="0" algn="bl" rotWithShape="0" blurRad="101600" dist="25400" dir="5400000">
              <a:srgbClr val="0EA5E9">
                <a:alpha val="30000"/>
              </a:srgbClr>
            </a:outerShdw>
          </a:effectLst>
        </p:spPr>
      </p:sp>
      <p:pic>
        <p:nvPicPr>
          <p:cNvPr id="13" name="Image 1" descr="/home/user/RAG-App/enterprise-rag-app/presentation/asset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220370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57016" y="3017520"/>
            <a:ext cx="2414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3557016" y="3429000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877056" y="3813048"/>
            <a:ext cx="1773936" cy="0"/>
          </a:xfrm>
          <a:prstGeom prst="line">
            <a:avLst/>
          </a:prstGeom>
          <a:noFill/>
          <a:ln w="12700">
            <a:solidFill>
              <a:srgbClr val="E1E7F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75888" y="3959352"/>
            <a:ext cx="217627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kNN over a dense_vector field. Bulk indexing, aggregations, cosine similarity.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272784" y="1600200"/>
            <a:ext cx="2688336" cy="3794760"/>
          </a:xfrm>
          <a:prstGeom prst="roundRect">
            <a:avLst>
              <a:gd name="adj" fmla="val 3401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59752" y="1965960"/>
            <a:ext cx="914400" cy="91440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101600" dist="25400" dir="5400000">
              <a:srgbClr val="8B5CF6">
                <a:alpha val="30000"/>
              </a:srgbClr>
            </a:outerShdw>
          </a:effectLst>
        </p:spPr>
      </p:sp>
      <p:pic>
        <p:nvPicPr>
          <p:cNvPr id="20" name="Image 2" descr="/home/user/RAG-App/enterprise-rag-app/presentation/assets/wandsparkle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496" y="2203704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09944" y="3017520"/>
            <a:ext cx="2414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750" dirty="0"/>
          </a:p>
        </p:txBody>
      </p:sp>
      <p:sp>
        <p:nvSpPr>
          <p:cNvPr id="22" name="Text 17"/>
          <p:cNvSpPr/>
          <p:nvPr/>
        </p:nvSpPr>
        <p:spPr>
          <a:xfrm>
            <a:off x="6409944" y="3429000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LLM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729984" y="3813048"/>
            <a:ext cx="1773936" cy="0"/>
          </a:xfrm>
          <a:prstGeom prst="line">
            <a:avLst/>
          </a:prstGeom>
          <a:noFill/>
          <a:ln w="12700">
            <a:solidFill>
              <a:srgbClr val="E1E7F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528816" y="3959352"/>
            <a:ext cx="217627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 for vectors; gpt-4o-mini for answers and image captioning.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9125712" y="1600200"/>
            <a:ext cx="2688336" cy="3794760"/>
          </a:xfrm>
          <a:prstGeom prst="roundRect">
            <a:avLst>
              <a:gd name="adj" fmla="val 3401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10012680" y="1965960"/>
            <a:ext cx="914400" cy="914400"/>
          </a:xfrm>
          <a:prstGeom prst="ellipse">
            <a:avLst/>
          </a:prstGeom>
          <a:solidFill>
            <a:srgbClr val="4C5BD4"/>
          </a:solidFill>
          <a:ln/>
          <a:effectLst>
            <a:outerShdw sx="100000" sy="100000" kx="0" ky="0" algn="bl" rotWithShape="0" blurRad="101600" dist="25400" dir="5400000">
              <a:srgbClr val="4C5BD4">
                <a:alpha val="30000"/>
              </a:srgbClr>
            </a:outerShdw>
          </a:effectLst>
        </p:spPr>
      </p:sp>
      <p:pic>
        <p:nvPicPr>
          <p:cNvPr id="27" name="Image 3" descr="/home/user/RAG-App/enterprise-rag-app/presentation/assets/cod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0424" y="2203704"/>
            <a:ext cx="438912" cy="43891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62872" y="3017520"/>
            <a:ext cx="2414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750" dirty="0"/>
          </a:p>
        </p:txBody>
      </p:sp>
      <p:sp>
        <p:nvSpPr>
          <p:cNvPr id="29" name="Text 23"/>
          <p:cNvSpPr/>
          <p:nvPr/>
        </p:nvSpPr>
        <p:spPr>
          <a:xfrm>
            <a:off x="9262872" y="3429000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4C5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9582912" y="3813048"/>
            <a:ext cx="1773936" cy="0"/>
          </a:xfrm>
          <a:prstGeom prst="line">
            <a:avLst/>
          </a:prstGeom>
          <a:noFill/>
          <a:ln w="12700">
            <a:solidFill>
              <a:srgbClr val="E1E7F5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9381744" y="3959352"/>
            <a:ext cx="217627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SPA, Tailwind UI. A typed client mirrors the backend; chat renders answers with cited sources.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 ·  Enterprise Reference Application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4C5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typed API surface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11055096" cy="694944"/>
          </a:xfrm>
          <a:prstGeom prst="roundRect">
            <a:avLst>
              <a:gd name="adj" fmla="val 13158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63500" dist="25400" dir="5400000">
              <a:srgbClr val="AAB4D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764792"/>
            <a:ext cx="841248" cy="365760"/>
          </a:xfrm>
          <a:prstGeom prst="roundRect">
            <a:avLst>
              <a:gd name="adj" fmla="val 17500"/>
            </a:avLst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764792"/>
            <a:ext cx="841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73936" y="1600200"/>
            <a:ext cx="3108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/ingest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47488" y="1600200"/>
            <a:ext cx="63916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index from data/documents/ end to end.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2395728"/>
            <a:ext cx="11055096" cy="694944"/>
          </a:xfrm>
          <a:prstGeom prst="roundRect">
            <a:avLst>
              <a:gd name="adj" fmla="val 13158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63500" dist="25400" dir="5400000">
              <a:srgbClr val="AAB4D4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68096" y="2560320"/>
            <a:ext cx="841248" cy="365760"/>
          </a:xfrm>
          <a:prstGeom prst="roundRect">
            <a:avLst>
              <a:gd name="adj" fmla="val 17500"/>
            </a:avLst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560320"/>
            <a:ext cx="841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73936" y="2395728"/>
            <a:ext cx="3108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/documents/upload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47488" y="2395728"/>
            <a:ext cx="63916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 uploaded .txt / .md / .pdf to disk.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191256"/>
            <a:ext cx="11055096" cy="694944"/>
          </a:xfrm>
          <a:prstGeom prst="roundRect">
            <a:avLst>
              <a:gd name="adj" fmla="val 13158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63500" dist="25400" dir="5400000">
              <a:srgbClr val="AAB4D4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096" y="3355848"/>
            <a:ext cx="841248" cy="365760"/>
          </a:xfrm>
          <a:prstGeom prst="roundRect">
            <a:avLst>
              <a:gd name="adj" fmla="val 17500"/>
            </a:avLst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3355848"/>
            <a:ext cx="841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73936" y="3191256"/>
            <a:ext cx="3108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/documents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47488" y="3191256"/>
            <a:ext cx="63916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indexed files with per-file chunk counts.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3986784"/>
            <a:ext cx="11055096" cy="694944"/>
          </a:xfrm>
          <a:prstGeom prst="roundRect">
            <a:avLst>
              <a:gd name="adj" fmla="val 13158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63500" dist="25400" dir="5400000">
              <a:srgbClr val="AAB4D4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4151376"/>
            <a:ext cx="841248" cy="365760"/>
          </a:xfrm>
          <a:prstGeom prst="roundRect">
            <a:avLst>
              <a:gd name="adj" fmla="val 17500"/>
            </a:avLst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4151376"/>
            <a:ext cx="841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73936" y="3986784"/>
            <a:ext cx="3108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/chat/start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47488" y="3986784"/>
            <a:ext cx="63916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chat session and return its id.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4782312"/>
            <a:ext cx="11055096" cy="694944"/>
          </a:xfrm>
          <a:prstGeom prst="roundRect">
            <a:avLst>
              <a:gd name="adj" fmla="val 13158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63500" dist="25400" dir="5400000">
              <a:srgbClr val="AAB4D4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8096" y="4946904"/>
            <a:ext cx="841248" cy="365760"/>
          </a:xfrm>
          <a:prstGeom prst="roundRect">
            <a:avLst>
              <a:gd name="adj" fmla="val 17500"/>
            </a:avLst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" y="4946904"/>
            <a:ext cx="841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773936" y="4782312"/>
            <a:ext cx="3108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/chat/send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47488" y="4782312"/>
            <a:ext cx="63916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— returns the answer plus ranked sources.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66928" y="5577840"/>
            <a:ext cx="11055096" cy="694944"/>
          </a:xfrm>
          <a:prstGeom prst="roundRect">
            <a:avLst>
              <a:gd name="adj" fmla="val 13158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63500" dist="25400" dir="5400000">
              <a:srgbClr val="AAB4D4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8096" y="5742432"/>
            <a:ext cx="841248" cy="365760"/>
          </a:xfrm>
          <a:prstGeom prst="roundRect">
            <a:avLst>
              <a:gd name="adj" fmla="val 17500"/>
            </a:avLst>
          </a:prstGeom>
          <a:solidFill>
            <a:srgbClr val="4C5BD4"/>
          </a:solidFill>
          <a:ln/>
        </p:spPr>
      </p:sp>
      <p:sp>
        <p:nvSpPr>
          <p:cNvPr id="31" name="Text 29"/>
          <p:cNvSpPr/>
          <p:nvPr/>
        </p:nvSpPr>
        <p:spPr>
          <a:xfrm>
            <a:off x="768096" y="5742432"/>
            <a:ext cx="841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773936" y="5577840"/>
            <a:ext cx="3108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047488" y="5577840"/>
            <a:ext cx="63916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status and chunk / table / image counts.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 ·  Enterprise Reference Application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4C5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2688336" cy="13716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773936"/>
            <a:ext cx="25054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76656" y="250545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ANSWERS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19856" y="1572768"/>
            <a:ext cx="2688336" cy="13716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11296" y="1773936"/>
            <a:ext cx="25054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29584" y="250545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CARRY A SOURCE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72784" y="1572768"/>
            <a:ext cx="2688336" cy="13716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64224" y="1773936"/>
            <a:ext cx="25054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82512" y="250545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RETRAINING NEEDED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25712" y="1572768"/>
            <a:ext cx="2688336" cy="13716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17152" y="1773936"/>
            <a:ext cx="25054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235440" y="250545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TYPES INDEXED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20040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AAB4D4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" y="3529584"/>
            <a:ext cx="713232" cy="713232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8" name="Image 0" descr="/home/user/RAG-App/enterprise-rag-app/presentation/assets/heads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688" y="3715024"/>
            <a:ext cx="342351" cy="342351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737360" y="34564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 support load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737360" y="3858768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and customers self-serve answers from policies, FAQs and handbooks — instantly.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592824" y="320040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AAB4D4">
                <a:alpha val="2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867144" y="3529584"/>
            <a:ext cx="713232" cy="713232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3" name="Image 1" descr="/home/user/RAG-App/enterprise-rag-app/presentation/assets/shiel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2584" y="3715024"/>
            <a:ext cx="342351" cy="342351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763256" y="34564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auditability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7763256" y="3858768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grounded and cited, so claims can be verified against the source document.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66928" y="4873752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AAB4D4">
                <a:alpha val="2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41248" y="5202936"/>
            <a:ext cx="713232" cy="71323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8" name="Image 2" descr="/home/user/RAG-App/enterprise-rag-app/presentation/assets/gau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688" y="5388376"/>
            <a:ext cx="342351" cy="342351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737360" y="512978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current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1737360" y="5532120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 document and re-ingest — no retraining, no waiting. Knowledge stays live.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6592824" y="4873752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AAB4D4">
                <a:alpha val="28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6867144" y="5202936"/>
            <a:ext cx="713232" cy="713232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3" name="Image 3" descr="/home/user/RAG-App/enterprise-rag-app/presentation/assets/sca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2584" y="5388376"/>
            <a:ext cx="342351" cy="342351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763256" y="512978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&amp; private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7763256" y="5532120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confined to your own approved documents — not the open internet.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 ·  Enterprise Reference Application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4C5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reference app to production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deliberately keeps some things simple. Here's what hardening for production looks like.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3602736" cy="3977640"/>
          </a:xfrm>
          <a:prstGeom prst="roundRect">
            <a:avLst>
              <a:gd name="adj" fmla="val 2538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276856"/>
            <a:ext cx="731520" cy="73152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7" name="Image 0" descr="/home/user/RAG-App/enterprise-rag-app/presentation/asset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" y="2467051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00784" y="2295144"/>
            <a:ext cx="23225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Reference app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859536" y="3246120"/>
            <a:ext cx="3017520" cy="0"/>
          </a:xfrm>
          <a:prstGeom prst="line">
            <a:avLst/>
          </a:prstGeom>
          <a:noFill/>
          <a:ln w="12700">
            <a:solidFill>
              <a:srgbClr val="E1E7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2688" y="3410712"/>
            <a:ext cx="294436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Dense-vector kNN retrieval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ingest (text/table/image)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cited answers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API + React UI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97680" y="1965960"/>
            <a:ext cx="3602736" cy="3977640"/>
          </a:xfrm>
          <a:prstGeom prst="roundRect">
            <a:avLst>
              <a:gd name="adj" fmla="val 2538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90288" y="2276856"/>
            <a:ext cx="731520" cy="73152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3" name="Image 1" descr="/home/user/RAG-App/enterprise-rag-app/presentation/assets/gea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483" y="2467051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31536" y="2295144"/>
            <a:ext cx="23225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Hardening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4590288" y="3246120"/>
            <a:ext cx="3017520" cy="0"/>
          </a:xfrm>
          <a:prstGeom prst="line">
            <a:avLst/>
          </a:prstGeom>
          <a:noFill/>
          <a:ln w="12700">
            <a:solidFill>
              <a:srgbClr val="E1E7F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663440" y="3410712"/>
            <a:ext cx="294436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(BM25 + vector)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session &amp; chat store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roles &amp; access control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re-indexing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28432" y="1965960"/>
            <a:ext cx="3602736" cy="3977640"/>
          </a:xfrm>
          <a:prstGeom prst="roundRect">
            <a:avLst>
              <a:gd name="adj" fmla="val 2538"/>
            </a:avLst>
          </a:prstGeom>
          <a:solidFill>
            <a:srgbClr val="F5F7FC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C8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21040" y="2276856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9" name="Image 2" descr="/home/user/RAG-App/enterprise-rag-app/presentation/assets/rocke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235" y="2467051"/>
            <a:ext cx="351130" cy="35113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62288" y="2295144"/>
            <a:ext cx="23225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1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— Scale</a:t>
            </a:r>
            <a:endParaRPr lang="en-US" sz="1550" dirty="0"/>
          </a:p>
        </p:txBody>
      </p:sp>
      <p:sp>
        <p:nvSpPr>
          <p:cNvPr id="21" name="Shape 16"/>
          <p:cNvSpPr/>
          <p:nvPr/>
        </p:nvSpPr>
        <p:spPr>
          <a:xfrm>
            <a:off x="8321040" y="3246120"/>
            <a:ext cx="3017520" cy="0"/>
          </a:xfrm>
          <a:prstGeom prst="line">
            <a:avLst/>
          </a:prstGeom>
          <a:noFill/>
          <a:ln w="12700">
            <a:solidFill>
              <a:srgbClr val="E1E7F5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394192" y="3410712"/>
            <a:ext cx="294436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 &amp; multi-query expansion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Re-ranking &amp; evaluation harness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logging &amp; feedback loop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knowledge bases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 ·  Enterprise Reference Application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86384" y="214884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you can trust,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knowledge you own.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C3C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pairs the fluency of a language model with the authority of your own documents — grounded, cited, and always current.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9204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E97C4"/>
            </a:solidFill>
            <a:prstDash val="solid"/>
          </a:ln>
        </p:spPr>
      </p:sp>
      <p:pic>
        <p:nvPicPr>
          <p:cNvPr id="6" name="Image 0" descr="/home/user/RAG-App/enterprise-rag-app/presentation/assets/brain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50383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16736" y="48920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035808" y="4892040"/>
            <a:ext cx="1641348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E97C4"/>
            </a:solidFill>
            <a:prstDash val="solid"/>
          </a:ln>
        </p:spPr>
      </p:sp>
      <p:pic>
        <p:nvPicPr>
          <p:cNvPr id="9" name="Image 1" descr="/home/user/RAG-App/enterprise-rag-app/presentation/assets/quote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688" y="503834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29584" y="4892040"/>
            <a:ext cx="10927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878324" y="4892040"/>
            <a:ext cx="2752344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E97C4"/>
            </a:solidFill>
            <a:prstDash val="solid"/>
          </a:ln>
        </p:spPr>
      </p:sp>
      <p:pic>
        <p:nvPicPr>
          <p:cNvPr id="12" name="Image 2" descr="/home/user/RAG-App/enterprise-rag-app/presentation/assets/gauge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1204" y="5038344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72100" y="4892040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current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7831836" y="4892040"/>
            <a:ext cx="2135124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E97C4"/>
            </a:solidFill>
            <a:prstDash val="solid"/>
          </a:ln>
        </p:spPr>
      </p:sp>
      <p:pic>
        <p:nvPicPr>
          <p:cNvPr id="15" name="Image 3" descr="/home/user/RAG-App/enterprise-rag-app/presentation/assets/shield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4716" y="5038344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325612" y="4892040"/>
            <a:ext cx="15864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822960" y="5852160"/>
            <a:ext cx="10515600" cy="0"/>
          </a:xfrm>
          <a:prstGeom prst="line">
            <a:avLst/>
          </a:prstGeom>
          <a:noFill/>
          <a:ln w="9525">
            <a:solidFill>
              <a:srgbClr val="8E97C4">
                <a:alpha val="60000"/>
              </a:srgbClr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822960" y="5989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C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Gadgets — Knowledge Assistant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85216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3C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srvknd59@gmail.com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RAG — Project Demo</dc:title>
  <dc:subject>PptxGenJS Presentation</dc:subject>
  <dc:creator>Northwind Gadgets — Engineering</dc:creator>
  <cp:lastModifiedBy>Northwind Gadgets — Engineering</cp:lastModifiedBy>
  <cp:revision>1</cp:revision>
  <dcterms:created xsi:type="dcterms:W3CDTF">2026-08-10T12:52:24Z</dcterms:created>
  <dcterms:modified xsi:type="dcterms:W3CDTF">2026-08-10T12:52:24Z</dcterms:modified>
</cp:coreProperties>
</file>